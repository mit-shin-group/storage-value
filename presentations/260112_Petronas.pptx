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4D9DB-3AD9-FFCB-83A5-D97D55A4AD60}" v="12" dt="2025-08-28T14:22:39.100"/>
    <p1510:client id="{57CB99CF-97A9-CB46-A240-393A06C59158}" v="11" dt="2025-08-28T14:20:26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ho Shin" userId="ee4178c5-4146-4abe-b730-6391ed47fc00" providerId="ADAL" clId="{57CB99CF-97A9-CB46-A240-393A06C59158}"/>
    <pc:docChg chg="undo custSel modSld">
      <pc:chgData name="Sungho Shin" userId="ee4178c5-4146-4abe-b730-6391ed47fc00" providerId="ADAL" clId="{57CB99CF-97A9-CB46-A240-393A06C59158}" dt="2025-08-28T14:20:30.829" v="35" actId="1076"/>
      <pc:docMkLst>
        <pc:docMk/>
      </pc:docMkLst>
      <pc:sldChg chg="addSp modSp mod">
        <pc:chgData name="Sungho Shin" userId="ee4178c5-4146-4abe-b730-6391ed47fc00" providerId="ADAL" clId="{57CB99CF-97A9-CB46-A240-393A06C59158}" dt="2025-08-28T14:20:30.829" v="35" actId="1076"/>
        <pc:sldMkLst>
          <pc:docMk/>
          <pc:sldMk cId="1729972490" sldId="256"/>
        </pc:sldMkLst>
        <pc:spChg chg="mod">
          <ac:chgData name="Sungho Shin" userId="ee4178c5-4146-4abe-b730-6391ed47fc00" providerId="ADAL" clId="{57CB99CF-97A9-CB46-A240-393A06C59158}" dt="2025-08-28T14:20:02.603" v="13" actId="113"/>
          <ac:spMkLst>
            <pc:docMk/>
            <pc:sldMk cId="1729972490" sldId="256"/>
            <ac:spMk id="55" creationId="{12E3319E-408E-472F-A224-0E7C36278E1E}"/>
          </ac:spMkLst>
        </pc:spChg>
        <pc:spChg chg="mod">
          <ac:chgData name="Sungho Shin" userId="ee4178c5-4146-4abe-b730-6391ed47fc00" providerId="ADAL" clId="{57CB99CF-97A9-CB46-A240-393A06C59158}" dt="2025-08-28T14:20:13.495" v="14" actId="1076"/>
          <ac:spMkLst>
            <pc:docMk/>
            <pc:sldMk cId="1729972490" sldId="256"/>
            <ac:spMk id="60" creationId="{535A0A60-5A85-43A6-A0ED-0F620B2BE71A}"/>
          </ac:spMkLst>
        </pc:spChg>
        <pc:grpChg chg="mod">
          <ac:chgData name="Sungho Shin" userId="ee4178c5-4146-4abe-b730-6391ed47fc00" providerId="ADAL" clId="{57CB99CF-97A9-CB46-A240-393A06C59158}" dt="2025-08-28T14:19:51.723" v="8" actId="1076"/>
          <ac:grpSpMkLst>
            <pc:docMk/>
            <pc:sldMk cId="1729972490" sldId="256"/>
            <ac:grpSpMk id="3" creationId="{C4863F48-0FBD-9A4D-465B-AC5870CED69A}"/>
          </ac:grpSpMkLst>
        </pc:grpChg>
        <pc:grpChg chg="mod">
          <ac:chgData name="Sungho Shin" userId="ee4178c5-4146-4abe-b730-6391ed47fc00" providerId="ADAL" clId="{57CB99CF-97A9-CB46-A240-393A06C59158}" dt="2025-08-28T14:20:21.187" v="16" actId="1076"/>
          <ac:grpSpMkLst>
            <pc:docMk/>
            <pc:sldMk cId="1729972490" sldId="256"/>
            <ac:grpSpMk id="49" creationId="{8A0E0D22-58DD-4640-B1C8-C8F6A50E4855}"/>
          </ac:grpSpMkLst>
        </pc:grpChg>
        <pc:graphicFrameChg chg="mod">
          <ac:chgData name="Sungho Shin" userId="ee4178c5-4146-4abe-b730-6391ed47fc00" providerId="ADAL" clId="{57CB99CF-97A9-CB46-A240-393A06C59158}" dt="2025-08-28T14:20:28.892" v="34" actId="1076"/>
          <ac:graphicFrameMkLst>
            <pc:docMk/>
            <pc:sldMk cId="1729972490" sldId="256"/>
            <ac:graphicFrameMk id="62" creationId="{41111ED8-98A7-4BFF-A10B-89924D6C4FE0}"/>
          </ac:graphicFrameMkLst>
        </pc:graphicFrameChg>
        <pc:picChg chg="add mod">
          <ac:chgData name="Sungho Shin" userId="ee4178c5-4146-4abe-b730-6391ed47fc00" providerId="ADAL" clId="{57CB99CF-97A9-CB46-A240-393A06C59158}" dt="2025-08-28T14:19:46.113" v="6" actId="1076"/>
          <ac:picMkLst>
            <pc:docMk/>
            <pc:sldMk cId="1729972490" sldId="256"/>
            <ac:picMk id="2" creationId="{4668D02C-81E5-81A3-745D-F5FFE7E3ED9C}"/>
          </ac:picMkLst>
        </pc:picChg>
        <pc:picChg chg="mod">
          <ac:chgData name="Sungho Shin" userId="ee4178c5-4146-4abe-b730-6391ed47fc00" providerId="ADAL" clId="{57CB99CF-97A9-CB46-A240-393A06C59158}" dt="2025-08-28T14:19:51.723" v="8" actId="1076"/>
          <ac:picMkLst>
            <pc:docMk/>
            <pc:sldMk cId="1729972490" sldId="256"/>
            <ac:picMk id="4" creationId="{46AEE4E2-DE37-43E7-90DC-1D850413C22C}"/>
          </ac:picMkLst>
        </pc:picChg>
        <pc:picChg chg="mod">
          <ac:chgData name="Sungho Shin" userId="ee4178c5-4146-4abe-b730-6391ed47fc00" providerId="ADAL" clId="{57CB99CF-97A9-CB46-A240-393A06C59158}" dt="2025-08-28T14:20:19.753" v="15" actId="1076"/>
          <ac:picMkLst>
            <pc:docMk/>
            <pc:sldMk cId="1729972490" sldId="256"/>
            <ac:picMk id="9" creationId="{10E1E7AA-C9DE-4339-AF07-258E8A91A192}"/>
          </ac:picMkLst>
        </pc:picChg>
        <pc:picChg chg="mod">
          <ac:chgData name="Sungho Shin" userId="ee4178c5-4146-4abe-b730-6391ed47fc00" providerId="ADAL" clId="{57CB99CF-97A9-CB46-A240-393A06C59158}" dt="2025-08-28T14:20:24.174" v="31" actId="1036"/>
          <ac:picMkLst>
            <pc:docMk/>
            <pc:sldMk cId="1729972490" sldId="256"/>
            <ac:picMk id="57" creationId="{92528ED9-3816-4823-93BD-071B9F5E527F}"/>
          </ac:picMkLst>
        </pc:picChg>
        <pc:picChg chg="mod">
          <ac:chgData name="Sungho Shin" userId="ee4178c5-4146-4abe-b730-6391ed47fc00" providerId="ADAL" clId="{57CB99CF-97A9-CB46-A240-393A06C59158}" dt="2025-08-28T14:20:30.829" v="35" actId="1076"/>
          <ac:picMkLst>
            <pc:docMk/>
            <pc:sldMk cId="1729972490" sldId="256"/>
            <ac:picMk id="58" creationId="{2C622048-A24B-4782-84C1-1C0BC62D1E98}"/>
          </ac:picMkLst>
        </pc:picChg>
        <pc:picChg chg="mod">
          <ac:chgData name="Sungho Shin" userId="ee4178c5-4146-4abe-b730-6391ed47fc00" providerId="ADAL" clId="{57CB99CF-97A9-CB46-A240-393A06C59158}" dt="2025-08-28T14:19:51.723" v="8" actId="1076"/>
          <ac:picMkLst>
            <pc:docMk/>
            <pc:sldMk cId="1729972490" sldId="256"/>
            <ac:picMk id="76" creationId="{7B968E60-8E60-42AA-BFE5-40F40C7B05E9}"/>
          </ac:picMkLst>
        </pc:picChg>
        <pc:picChg chg="mod">
          <ac:chgData name="Sungho Shin" userId="ee4178c5-4146-4abe-b730-6391ed47fc00" providerId="ADAL" clId="{57CB99CF-97A9-CB46-A240-393A06C59158}" dt="2025-08-28T14:19:51.723" v="8" actId="1076"/>
          <ac:picMkLst>
            <pc:docMk/>
            <pc:sldMk cId="1729972490" sldId="256"/>
            <ac:picMk id="1026" creationId="{58B987FA-4BBF-39AF-A4C4-52871FF1361E}"/>
          </ac:picMkLst>
        </pc:picChg>
      </pc:sldChg>
    </pc:docChg>
  </pc:docChgLst>
  <pc:docChgLst>
    <pc:chgData name="Sungho Shin" userId="S::sushin@mit.edu::ee4178c5-4146-4abe-b730-6391ed47fc00" providerId="AD" clId="Web-{26D4D9DB-3AD9-FFCB-83A5-D97D55A4AD60}"/>
    <pc:docChg chg="modSld">
      <pc:chgData name="Sungho Shin" userId="S::sushin@mit.edu::ee4178c5-4146-4abe-b730-6391ed47fc00" providerId="AD" clId="Web-{26D4D9DB-3AD9-FFCB-83A5-D97D55A4AD60}" dt="2025-08-28T14:22:39.100" v="4" actId="20577"/>
      <pc:docMkLst>
        <pc:docMk/>
      </pc:docMkLst>
      <pc:sldChg chg="modSp">
        <pc:chgData name="Sungho Shin" userId="S::sushin@mit.edu::ee4178c5-4146-4abe-b730-6391ed47fc00" providerId="AD" clId="Web-{26D4D9DB-3AD9-FFCB-83A5-D97D55A4AD60}" dt="2025-08-28T14:22:39.100" v="4" actId="20577"/>
        <pc:sldMkLst>
          <pc:docMk/>
          <pc:sldMk cId="1729972490" sldId="256"/>
        </pc:sldMkLst>
        <pc:spChg chg="mod">
          <ac:chgData name="Sungho Shin" userId="S::sushin@mit.edu::ee4178c5-4146-4abe-b730-6391ed47fc00" providerId="AD" clId="Web-{26D4D9DB-3AD9-FFCB-83A5-D97D55A4AD60}" dt="2025-08-28T14:22:39.100" v="4" actId="20577"/>
          <ac:spMkLst>
            <pc:docMk/>
            <pc:sldMk cId="1729972490" sldId="256"/>
            <ac:spMk id="64" creationId="{EC74DD98-5DAC-448A-A0AD-C7B0D7210B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A6C4-D062-40C1-B7FA-DCB77C8A5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89817-54C3-46DE-A446-8CB9E6521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3E593-F2D1-4736-B001-7EBF07143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5C8AB-41EA-48F2-A7DA-CC754924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7B876-E5A2-4302-B97F-7B40F79D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2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5A60-8329-4D70-B0A1-7E97DE2D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1637F-C6FE-4FAA-A586-D62BF1E03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F3CB1-EA39-4CAC-8E0C-B0D0B875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1826-B25C-44B6-AB1A-A88B9E9F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89435-A90B-482E-A6FE-3183D1F3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4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6558-B75F-4BF7-8334-C475B3F2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319A8-210F-42FF-8014-904043573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D7429-C69C-4552-8B33-08427317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8F6FE-0EA0-4C24-BCAD-ADA1065B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53B1B-B9EB-4990-9612-F4C5B078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D4F8C-CBD6-491E-B542-DA082B42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02138-E5D2-49F8-8B35-DB3239382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BD87E-4F55-42AE-B34A-18F721C1E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F3D04-CDF2-469D-9693-D28A3E98E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D15C0-05E3-414F-BFA8-5016A797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13933-A635-47AD-AC77-B875A025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4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BF63-E9BD-4B13-980E-53457A5A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2C84A-4707-419C-AD06-6ABE2FAC4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13CCE-4FDC-4A22-8425-1B4F1C1E7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0A723-D4EC-4BA5-AE71-CCACF6E78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6C0FB4-E67E-4C35-B47F-93DCBF50C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504CC5-43F4-41E5-A3CD-D94DE6C2D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4C9D8-2F73-4085-8A25-5FFA0C8B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51237-CF7F-43E3-8F2B-0671B8E1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5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B340-7B64-4FEE-B4E8-4EA04426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ED294-A922-4C7A-98ED-C6F2C500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363FD-A7E5-4280-98AC-405D3772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0FBC7-B70A-402E-AAFE-077669C0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18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0FA001-EF72-4C23-A754-6F5C6D31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45E74-87C8-429E-AB05-A45E8A45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4E85C-2633-429E-92D7-4FFB9BBC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8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F255E-0087-44EA-BE66-0E50ECB64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EA7F-7003-4BDB-BDF2-741930A7E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ADFDB-A661-423F-91A6-6C4E12D16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05B9C-3476-4445-BE96-D1BE57124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23D0D-8F36-4FEE-80A5-86DB61F6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CBFB9-692E-4B54-80E3-886C94FB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3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4B39-438C-4B7B-9095-9BD83ACF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81F934-0F2E-49C8-89D9-2A4DA6878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FD87F-789A-40B5-B9DD-77B7A7FF2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76A58-AE83-43FD-A293-5D5E155F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DD257-784A-44D4-89C6-8BF893D3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21FAF-5BCF-40CE-ADDB-0E6C9BA7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1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D5DF-1B3A-4D64-B1E0-5D94BC63C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BEEC0-62E6-4647-915D-B3F01078E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3CC59-C1E5-4F06-B929-973BBBE5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EF893-803A-445A-84CE-F6BB940B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3A23B-F26D-4F43-A533-09C5131D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02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0D96A-0096-4970-82F2-D7B648831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98215-3657-4A8D-A3FB-1F4C36315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C1F1D-15AD-485D-9971-F23A3861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2EC03-04AB-47E8-9DA4-EDC8EBDCB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9672E-512C-42A3-9434-203DB713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36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98CC51-109C-4E7F-B794-F0B61CBA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F19A1-5EFA-4AC9-9A34-5AD9B940B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75DC5-7E8F-4F03-8922-1BD3EF39E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03DEC-A17B-4FA2-A98D-55724F1722D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2892C-DD5E-4B2F-BE80-E809FA8F7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E7B04-7BEB-48AD-8A21-E149A3C52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39D9E-45DF-4AAB-81A6-CBD9658F9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83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svg"/><Relationship Id="rId7" Type="http://schemas.openxmlformats.org/officeDocument/2006/relationships/image" Target="../media/image4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g"/><Relationship Id="rId10" Type="http://schemas.openxmlformats.org/officeDocument/2006/relationships/image" Target="../media/image11.sv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EC74DD98-5DAC-448A-A0AD-C7B0D7210BAE}"/>
              </a:ext>
            </a:extLst>
          </p:cNvPr>
          <p:cNvSpPr txBox="1"/>
          <p:nvPr/>
        </p:nvSpPr>
        <p:spPr>
          <a:xfrm>
            <a:off x="114300" y="705743"/>
            <a:ext cx="6364224" cy="5909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Motivation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Storage is deployed to meet peak electricity demand in distribution grids but sits idle most of the time in deregulated markets because of concerns over market distortion.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Research Question: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is the value of distribution grid storage for 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deferring grid upgrades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 what would be the value of 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market participation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, if it were allowed?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Scope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Markets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Day-ahead arbitrage and capacity markets because ancillary services are saturating in the US and Europe.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Grid Upgrades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Substation or cable investment.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Time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From the year 2025 through 2050.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Space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Jurisdictions, in which electricity distribution companies are not allowed to own generation (13 US states + the EU).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Goal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More efficient storage utilization, either by allowing distribution companies to own storage (as in New York and Maryland) or by partnering with third-parties that would own and operate storage to serve both local distribution and broader market needs.</a:t>
            </a:r>
          </a:p>
        </p:txBody>
      </p:sp>
      <p:pic>
        <p:nvPicPr>
          <p:cNvPr id="76" name="Picture 4" descr="Logos &amp; Marks | MIT Brand Guide">
            <a:extLst>
              <a:ext uri="{FF2B5EF4-FFF2-40B4-BE49-F238E27FC236}">
                <a16:creationId xmlns:a16="http://schemas.microsoft.com/office/drawing/2014/main" id="{7B968E60-8E60-42AA-BFE5-40F40C7B0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2F4F8"/>
              </a:clrFrom>
              <a:clrTo>
                <a:srgbClr val="F2F4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804" y="5695696"/>
            <a:ext cx="2061901" cy="165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1A0087-A33E-238A-34B3-E81600023CD0}"/>
              </a:ext>
            </a:extLst>
          </p:cNvPr>
          <p:cNvSpPr txBox="1"/>
          <p:nvPr/>
        </p:nvSpPr>
        <p:spPr>
          <a:xfrm>
            <a:off x="0" y="0"/>
            <a:ext cx="12020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The Value of Storage in Electricity Distribution: The Role of Markets</a:t>
            </a:r>
          </a:p>
        </p:txBody>
      </p:sp>
      <p:pic>
        <p:nvPicPr>
          <p:cNvPr id="10" name="Inhaltsplatzhalter 4 1" descr="Ein Bild, das Text, Im Haus, Wand, Zylinder enthält.&#10;&#10;Automatisch generierte Beschreibung">
            <a:extLst>
              <a:ext uri="{FF2B5EF4-FFF2-40B4-BE49-F238E27FC236}">
                <a16:creationId xmlns:a16="http://schemas.microsoft.com/office/drawing/2014/main" id="{C5475B2C-B6BB-1346-09D7-F933DB0103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81" r="25264"/>
          <a:stretch/>
        </p:blipFill>
        <p:spPr>
          <a:xfrm>
            <a:off x="9079100" y="1259974"/>
            <a:ext cx="851671" cy="1142318"/>
          </a:xfrm>
          <a:prstGeom prst="rect">
            <a:avLst/>
          </a:prstGeom>
        </p:spPr>
      </p:pic>
      <p:pic>
        <p:nvPicPr>
          <p:cNvPr id="11" name="Picture 10" descr="A detailed view of a jet engine&#10;&#10;AI-generated content may be incorrect.">
            <a:extLst>
              <a:ext uri="{FF2B5EF4-FFF2-40B4-BE49-F238E27FC236}">
                <a16:creationId xmlns:a16="http://schemas.microsoft.com/office/drawing/2014/main" id="{D27CD80A-EB2E-08C5-997D-87301E9806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556" y="1348355"/>
            <a:ext cx="1207598" cy="965556"/>
          </a:xfrm>
          <a:prstGeom prst="rect">
            <a:avLst/>
          </a:prstGeom>
        </p:spPr>
      </p:pic>
      <p:pic>
        <p:nvPicPr>
          <p:cNvPr id="12" name="Picture 11" descr="A row of white computer servers&#10;&#10;AI-generated content may be incorrect.">
            <a:extLst>
              <a:ext uri="{FF2B5EF4-FFF2-40B4-BE49-F238E27FC236}">
                <a16:creationId xmlns:a16="http://schemas.microsoft.com/office/drawing/2014/main" id="{101EF0DE-B630-BD81-20D6-B3579E8520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928" y="1334986"/>
            <a:ext cx="1532076" cy="9922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44F8B2-1D75-A535-AB18-1EB88599189A}"/>
              </a:ext>
            </a:extLst>
          </p:cNvPr>
          <p:cNvSpPr txBox="1"/>
          <p:nvPr/>
        </p:nvSpPr>
        <p:spPr>
          <a:xfrm>
            <a:off x="7190003" y="2440767"/>
            <a:ext cx="1274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anose="020B0604020202020204"/>
                <a:cs typeface="Helvetica" panose="020B0604020202020204"/>
              </a:rPr>
              <a:t>backup </a:t>
            </a:r>
          </a:p>
          <a:p>
            <a:pPr algn="ctr"/>
            <a:r>
              <a:rPr lang="en-US" dirty="0">
                <a:latin typeface="Helvetica" panose="020B0604020202020204"/>
                <a:cs typeface="Helvetica" panose="020B0604020202020204"/>
              </a:rPr>
              <a:t>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CAFD3F-F198-E839-4C77-7926F1B1AD0D}"/>
              </a:ext>
            </a:extLst>
          </p:cNvPr>
          <p:cNvSpPr txBox="1"/>
          <p:nvPr/>
        </p:nvSpPr>
        <p:spPr>
          <a:xfrm>
            <a:off x="8829109" y="2440767"/>
            <a:ext cx="1351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anose="020B0604020202020204"/>
                <a:cs typeface="Helvetica" panose="020B0604020202020204"/>
              </a:rPr>
              <a:t>substations</a:t>
            </a:r>
          </a:p>
          <a:p>
            <a:pPr algn="ctr"/>
            <a:r>
              <a:rPr lang="en-US" dirty="0">
                <a:latin typeface="Helvetica" panose="020B0604020202020204"/>
                <a:cs typeface="Helvetica" panose="020B0604020202020204"/>
              </a:rPr>
              <a:t>and cables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A8B11B-23B4-8C0E-BEE8-4C68D3AFFEE8}"/>
              </a:ext>
            </a:extLst>
          </p:cNvPr>
          <p:cNvSpPr txBox="1"/>
          <p:nvPr/>
        </p:nvSpPr>
        <p:spPr>
          <a:xfrm>
            <a:off x="10589501" y="244076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/>
                <a:cs typeface="Helvetica" panose="020B0604020202020204"/>
              </a:rPr>
              <a:t>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9B18B-7DC6-BBAC-562A-5F19DC9D9966}"/>
              </a:ext>
            </a:extLst>
          </p:cNvPr>
          <p:cNvSpPr txBox="1"/>
          <p:nvPr/>
        </p:nvSpPr>
        <p:spPr>
          <a:xfrm>
            <a:off x="6873304" y="705743"/>
            <a:ext cx="2907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Distribution Grid Assets: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5B00313-7AE0-C697-C9AC-0F54DF166A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9100" y="3706147"/>
            <a:ext cx="4320000" cy="2880000"/>
          </a:xfrm>
          <a:prstGeom prst="rect">
            <a:avLst/>
          </a:prstGeom>
        </p:spPr>
      </p:pic>
      <p:sp>
        <p:nvSpPr>
          <p:cNvPr id="18" name="Textfeld 5">
            <a:extLst>
              <a:ext uri="{FF2B5EF4-FFF2-40B4-BE49-F238E27FC236}">
                <a16:creationId xmlns:a16="http://schemas.microsoft.com/office/drawing/2014/main" id="{255AD171-C77D-CC3F-886A-99BCEE45A339}"/>
              </a:ext>
            </a:extLst>
          </p:cNvPr>
          <p:cNvSpPr txBox="1"/>
          <p:nvPr/>
        </p:nvSpPr>
        <p:spPr>
          <a:xfrm>
            <a:off x="6873304" y="3291066"/>
            <a:ext cx="511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/>
                <a:cs typeface="Helvetica" panose="020B0604020202020204"/>
              </a:rPr>
              <a:t>No Market Participation (Status Quo)</a:t>
            </a:r>
            <a:endParaRPr lang="de-DE" b="1" dirty="0"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69C5C4-CE63-80E7-297A-F120398900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100" y="5245696"/>
            <a:ext cx="900000" cy="900000"/>
          </a:xfrm>
          <a:prstGeom prst="rect">
            <a:avLst/>
          </a:prstGeom>
        </p:spPr>
      </p:pic>
      <p:sp>
        <p:nvSpPr>
          <p:cNvPr id="21" name="Textfeld 5">
            <a:extLst>
              <a:ext uri="{FF2B5EF4-FFF2-40B4-BE49-F238E27FC236}">
                <a16:creationId xmlns:a16="http://schemas.microsoft.com/office/drawing/2014/main" id="{063B821D-003A-B5AD-F60B-1FE67D94B208}"/>
              </a:ext>
            </a:extLst>
          </p:cNvPr>
          <p:cNvSpPr txBox="1"/>
          <p:nvPr/>
        </p:nvSpPr>
        <p:spPr>
          <a:xfrm>
            <a:off x="11269800" y="3985682"/>
            <a:ext cx="759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/>
                <a:cs typeface="Helvetica" panose="020B0604020202020204"/>
              </a:rPr>
              <a:t>Full </a:t>
            </a:r>
          </a:p>
          <a:p>
            <a:r>
              <a:rPr lang="en-US" dirty="0">
                <a:latin typeface="Helvetica" panose="020B0604020202020204"/>
                <a:cs typeface="Helvetica" panose="020B0604020202020204"/>
              </a:rPr>
              <a:t>study </a:t>
            </a:r>
          </a:p>
          <a:p>
            <a:r>
              <a:rPr lang="en-US" dirty="0">
                <a:latin typeface="Helvetica" panose="020B0604020202020204"/>
                <a:cs typeface="Helvetica" panose="020B0604020202020204"/>
              </a:rPr>
              <a:t>here</a:t>
            </a:r>
            <a:endParaRPr lang="de-DE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C5C841D-E6C0-17DF-B608-FE179FBE287B}"/>
              </a:ext>
            </a:extLst>
          </p:cNvPr>
          <p:cNvSpPr/>
          <p:nvPr/>
        </p:nvSpPr>
        <p:spPr>
          <a:xfrm>
            <a:off x="11500092" y="4937586"/>
            <a:ext cx="302304" cy="353859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7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FBB3-E261-9AD3-7081-22CAB5A7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8EBC57F-A1B7-BBEF-344A-D3A1DB372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9100" y="3695339"/>
            <a:ext cx="4320000" cy="28800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C1044C6A-5264-60CF-8C05-C69C3021B2A5}"/>
              </a:ext>
            </a:extLst>
          </p:cNvPr>
          <p:cNvSpPr txBox="1"/>
          <p:nvPr/>
        </p:nvSpPr>
        <p:spPr>
          <a:xfrm>
            <a:off x="0" y="523220"/>
            <a:ext cx="6853299" cy="64633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If market participation was allowed, </a:t>
            </a:r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storage cycling would increase from once a month to every third day</a:t>
            </a: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 on average (the maximum covered by warranty).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Market participation would generate a similar value to investment deferral</a:t>
            </a: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 in our case study. </a:t>
            </a:r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decrease total electricity system costs by 5% 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In our case study, there is </a:t>
            </a:r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no trade-off between market participation and investment deferral</a:t>
            </a: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 because the needs of the local distribution grid, in terms of storage charging and discharging, align with market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Methods</a:t>
            </a: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Mathematical programming for capacity expansion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Novel formulation of market participation constraints</a:t>
            </a:r>
            <a:r>
              <a:rPr lang="de-DE" dirty="0">
                <a:latin typeface="Helvetica" panose="020B0604020202020204" pitchFamily="34" charset="0"/>
                <a:cs typeface="Helvetica" panose="020B0604020202020204" pitchFamily="34" charset="0"/>
              </a:rPr>
              <a:t>. If the constraints apply, the generation from storage and backup generation is limited to the amount of electricity demand that cannot be covered by the grid.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6" name="Picture 4" descr="Logos &amp; Marks | MIT Brand Guide">
            <a:extLst>
              <a:ext uri="{FF2B5EF4-FFF2-40B4-BE49-F238E27FC236}">
                <a16:creationId xmlns:a16="http://schemas.microsoft.com/office/drawing/2014/main" id="{F663A6DB-0E8C-902A-E1BA-DEC8571FA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2F4F8"/>
              </a:clrFrom>
              <a:clrTo>
                <a:srgbClr val="F2F4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804" y="5695696"/>
            <a:ext cx="2061901" cy="165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C72085-9C1B-5C49-3326-199E3608275D}"/>
              </a:ext>
            </a:extLst>
          </p:cNvPr>
          <p:cNvSpPr txBox="1"/>
          <p:nvPr/>
        </p:nvSpPr>
        <p:spPr>
          <a:xfrm>
            <a:off x="0" y="0"/>
            <a:ext cx="12020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The Value of Storage in Electricity Distribution: The Role of Markets</a:t>
            </a:r>
          </a:p>
        </p:txBody>
      </p:sp>
      <p:pic>
        <p:nvPicPr>
          <p:cNvPr id="10" name="Inhaltsplatzhalter 4 1" descr="Ein Bild, das Text, Im Haus, Wand, Zylinder enthält.&#10;&#10;Automatisch generierte Beschreibung">
            <a:extLst>
              <a:ext uri="{FF2B5EF4-FFF2-40B4-BE49-F238E27FC236}">
                <a16:creationId xmlns:a16="http://schemas.microsoft.com/office/drawing/2014/main" id="{0D6BFDBD-3DC7-4775-9B53-9A577CE397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081" r="25264"/>
          <a:stretch/>
        </p:blipFill>
        <p:spPr>
          <a:xfrm>
            <a:off x="9079100" y="1259974"/>
            <a:ext cx="851671" cy="1142318"/>
          </a:xfrm>
          <a:prstGeom prst="rect">
            <a:avLst/>
          </a:prstGeom>
        </p:spPr>
      </p:pic>
      <p:pic>
        <p:nvPicPr>
          <p:cNvPr id="11" name="Picture 10" descr="A detailed view of a jet engine&#10;&#10;AI-generated content may be incorrect.">
            <a:extLst>
              <a:ext uri="{FF2B5EF4-FFF2-40B4-BE49-F238E27FC236}">
                <a16:creationId xmlns:a16="http://schemas.microsoft.com/office/drawing/2014/main" id="{11F05E85-C563-4FE1-8DCA-735B882F03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556" y="1348355"/>
            <a:ext cx="1207598" cy="965556"/>
          </a:xfrm>
          <a:prstGeom prst="rect">
            <a:avLst/>
          </a:prstGeom>
        </p:spPr>
      </p:pic>
      <p:pic>
        <p:nvPicPr>
          <p:cNvPr id="12" name="Picture 11" descr="A row of white computer servers&#10;&#10;AI-generated content may be incorrect.">
            <a:extLst>
              <a:ext uri="{FF2B5EF4-FFF2-40B4-BE49-F238E27FC236}">
                <a16:creationId xmlns:a16="http://schemas.microsoft.com/office/drawing/2014/main" id="{8EEE71E6-F568-0C3C-FB73-9E61111B4E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928" y="1334986"/>
            <a:ext cx="1532076" cy="9922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8005CC-EB21-252C-219B-6EC839D16121}"/>
              </a:ext>
            </a:extLst>
          </p:cNvPr>
          <p:cNvSpPr txBox="1"/>
          <p:nvPr/>
        </p:nvSpPr>
        <p:spPr>
          <a:xfrm>
            <a:off x="7190003" y="2440767"/>
            <a:ext cx="1274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anose="020B0604020202020204"/>
                <a:cs typeface="Helvetica" panose="020B0604020202020204"/>
              </a:rPr>
              <a:t>backup </a:t>
            </a:r>
          </a:p>
          <a:p>
            <a:pPr algn="ctr"/>
            <a:r>
              <a:rPr lang="en-US" dirty="0">
                <a:latin typeface="Helvetica" panose="020B0604020202020204"/>
                <a:cs typeface="Helvetica" panose="020B0604020202020204"/>
              </a:rPr>
              <a:t>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35E36-F869-104F-B610-5CD9A03DF0FE}"/>
              </a:ext>
            </a:extLst>
          </p:cNvPr>
          <p:cNvSpPr txBox="1"/>
          <p:nvPr/>
        </p:nvSpPr>
        <p:spPr>
          <a:xfrm>
            <a:off x="8829109" y="2440767"/>
            <a:ext cx="1351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Helvetica" panose="020B0604020202020204"/>
                <a:cs typeface="Helvetica" panose="020B0604020202020204"/>
              </a:rPr>
              <a:t>substations</a:t>
            </a:r>
          </a:p>
          <a:p>
            <a:pPr algn="ctr"/>
            <a:r>
              <a:rPr lang="en-US" dirty="0">
                <a:latin typeface="Helvetica" panose="020B0604020202020204"/>
                <a:cs typeface="Helvetica" panose="020B0604020202020204"/>
              </a:rPr>
              <a:t>and cables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C391CA-B973-25B6-7295-3D5575B9C3C7}"/>
              </a:ext>
            </a:extLst>
          </p:cNvPr>
          <p:cNvSpPr txBox="1"/>
          <p:nvPr/>
        </p:nvSpPr>
        <p:spPr>
          <a:xfrm>
            <a:off x="10589501" y="244076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/>
                <a:cs typeface="Helvetica" panose="020B0604020202020204"/>
              </a:rPr>
              <a:t>storage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7DBEEF-E313-43BD-F4B8-C2CC6D0A8FAB}"/>
              </a:ext>
            </a:extLst>
          </p:cNvPr>
          <p:cNvSpPr txBox="1"/>
          <p:nvPr/>
        </p:nvSpPr>
        <p:spPr>
          <a:xfrm>
            <a:off x="6873304" y="705743"/>
            <a:ext cx="2907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Helvetica" panose="020B0604020202020204" pitchFamily="34" charset="0"/>
                <a:cs typeface="Helvetica" panose="020B0604020202020204" pitchFamily="34" charset="0"/>
              </a:rPr>
              <a:t>Distribution Grid Assets: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Textfeld 5">
            <a:extLst>
              <a:ext uri="{FF2B5EF4-FFF2-40B4-BE49-F238E27FC236}">
                <a16:creationId xmlns:a16="http://schemas.microsoft.com/office/drawing/2014/main" id="{C756F3CF-2F9B-9437-9F2D-A45739B1ADEA}"/>
              </a:ext>
            </a:extLst>
          </p:cNvPr>
          <p:cNvSpPr txBox="1"/>
          <p:nvPr/>
        </p:nvSpPr>
        <p:spPr>
          <a:xfrm>
            <a:off x="6873304" y="3291066"/>
            <a:ext cx="511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/>
                <a:cs typeface="Helvetica" panose="020B0604020202020204"/>
              </a:rPr>
              <a:t>With Market Participation (Hypothetical)</a:t>
            </a:r>
            <a:endParaRPr lang="de-DE" b="1" dirty="0"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23DFE-539F-ED3C-584B-748242D990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100" y="5245696"/>
            <a:ext cx="900000" cy="900000"/>
          </a:xfrm>
          <a:prstGeom prst="rect">
            <a:avLst/>
          </a:prstGeom>
        </p:spPr>
      </p:pic>
      <p:sp>
        <p:nvSpPr>
          <p:cNvPr id="4" name="Textfeld 5">
            <a:extLst>
              <a:ext uri="{FF2B5EF4-FFF2-40B4-BE49-F238E27FC236}">
                <a16:creationId xmlns:a16="http://schemas.microsoft.com/office/drawing/2014/main" id="{211203FF-ADC5-EFE0-227C-7B12B31538C3}"/>
              </a:ext>
            </a:extLst>
          </p:cNvPr>
          <p:cNvSpPr txBox="1"/>
          <p:nvPr/>
        </p:nvSpPr>
        <p:spPr>
          <a:xfrm>
            <a:off x="11269800" y="3985682"/>
            <a:ext cx="759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/>
                <a:cs typeface="Helvetica" panose="020B0604020202020204"/>
              </a:rPr>
              <a:t>Full </a:t>
            </a:r>
          </a:p>
          <a:p>
            <a:r>
              <a:rPr lang="en-US" dirty="0">
                <a:latin typeface="Helvetica" panose="020B0604020202020204"/>
                <a:cs typeface="Helvetica" panose="020B0604020202020204"/>
              </a:rPr>
              <a:t>study </a:t>
            </a:r>
          </a:p>
          <a:p>
            <a:r>
              <a:rPr lang="en-US" dirty="0">
                <a:latin typeface="Helvetica" panose="020B0604020202020204"/>
                <a:cs typeface="Helvetica" panose="020B0604020202020204"/>
              </a:rPr>
              <a:t>here</a:t>
            </a:r>
            <a:endParaRPr lang="de-DE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3F62AD1A-AB5F-F24B-CAF3-A9DAF33D3E7F}"/>
              </a:ext>
            </a:extLst>
          </p:cNvPr>
          <p:cNvSpPr/>
          <p:nvPr/>
        </p:nvSpPr>
        <p:spPr>
          <a:xfrm>
            <a:off x="11500092" y="4937586"/>
            <a:ext cx="302304" cy="353859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E919B7-DD84-B2F7-2201-E470AED292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671" y="3679448"/>
            <a:ext cx="5040000" cy="150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4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363</Words>
  <Application>Microsoft Office PowerPoint</Application>
  <PresentationFormat>Widescreen</PresentationFormat>
  <Paragraphs>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Boxun Huang</dc:creator>
  <cp:lastModifiedBy>Dirk Lauinger</cp:lastModifiedBy>
  <cp:revision>12</cp:revision>
  <dcterms:created xsi:type="dcterms:W3CDTF">2025-08-27T20:06:57Z</dcterms:created>
  <dcterms:modified xsi:type="dcterms:W3CDTF">2026-01-08T20:16:22Z</dcterms:modified>
</cp:coreProperties>
</file>